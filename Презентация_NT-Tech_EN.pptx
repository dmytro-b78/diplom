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1" r:id="rId5"/>
    <p:sldId id="269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ln w="3175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Apr 27</c:v>
                </c:pt>
                <c:pt idx="1">
                  <c:v>May 11</c:v>
                </c:pt>
                <c:pt idx="2">
                  <c:v>May 25</c:v>
                </c:pt>
                <c:pt idx="3">
                  <c:v>Jun 8</c:v>
                </c:pt>
                <c:pt idx="4">
                  <c:v>Jun 22</c:v>
                </c:pt>
                <c:pt idx="5">
                  <c:v>Jul 6</c:v>
                </c:pt>
                <c:pt idx="6">
                  <c:v>Jul 20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85</c:v>
                </c:pt>
                <c:pt idx="3">
                  <c:v>85</c:v>
                </c:pt>
                <c:pt idx="4">
                  <c:v>85</c:v>
                </c:pt>
                <c:pt idx="5">
                  <c:v>85</c:v>
                </c:pt>
                <c:pt idx="6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D3-4654-ACA6-BB9CC9B5B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8890A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A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90A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249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Добрый день. Меня зовут Дмитрий Бердников, тема моей дипломной работы — автоматизация тестирования Python-приложений, на примере реального торгового бота NT-Tech LiveEngine 5.8. Научный руководитель — Виталий Замировский.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тестирования — не учебный пример, а реальный бот. Он торгует настоящими деньгами на бирже Binance Spot, работает круглосуточно на сервере и подключён к бирже через WebSocket в реальном времени. Я выбрал именно этот проект, потому что сам его придумал, сам написал и сам находил в нём баги в боевых условиях — а не в тепличной среде учебного задания. Задачи диплома стандартные: составить тест-план, подготовить тест-кейсы, провести ручное тестирование, описать найденные баги, автоматизировать тесты и подвести итоги.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говорить про тесты — коротко, как устроен сам бот. Данные приходят с Binance по WebSocket, дальше стадия входа проверяет условия по 4-часовому тренду, движок входа считает сигнал, риск-менеджмент ограничивает размер позиции, а после открытия сделки трейлинг-стоп и интеллектуальный выход ведут её до закрытия. До диплома тестов не было у exit_intelligence, stage1, entry_engine и live_loop; risk_guard и intrabar_stops были покрыты только частично — именно это белое пятно и закрывает эта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 диплома у меня не было опыта тестирования на Python вообще. Всё пришлось осваивать с нуля: сам pytest как основной фреймворк, pytest-mock для подмены внешних зависимостей, pytest-cov для замера покрытия кода и pytest-asyncio для тестирования асинхронного кода — бот ведь работает через WebSocket. Самостоятельно освоил фикстуры, параметризацию тестов, моки внешних API и структуру тестового пакета — отдельно unit-тесты, отдельно интеграционные.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Отдельно хочу показать одно инженерное решение — оно хорошо демонстрирует, что я понимаю тему тестирования, а не просто скопировал код. Первая версия тестовой инфраструктуры использовала unittest.mock.MagicMock — но так тесты проверяли поведение мока, а не реального интерфейса бота. Если бы в оригинальном компоненте изменилась сигнатура функции, тесты остались бы зелёными и не заметили бы этого — то есть тесты защищали бы от несуществующей опасности. Я перешёл на stub-модули: каждый stub точно повторяет интерфейс оригинала — те же классы, методы, параметры. Тест вызывает stub так же, как вызывал бы реальный компонент, и если интерфейс меняется, это сразу видно. Дополнительный бонус — stubs можно публиковать в открытом репозитории диплома, не раскрывая торговую логику 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021451-1387-4CA6-816F-3879F97B5CBD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коротко про результат. Всего написано 209 тестов: 194 unit и 15 интеграционных. Покрытие кода — 85%, подтверждено через Codecov, и график справа показывает, что оно не с потолка, а выросло постепенно. Задокументировано 5 багов: три реальных, из живой торговли, и ещё два я внёс сам, намеренно — чтобы показать технику тестирования на границе значений. И все тесты стабильно проходят — как локально, так и в CI. Из инфраструктуры: GitHub Actions запускает тесты автоматически при каждом push, Codecov отслеживает покрытие на каждый коммит, а все баги оформлены как тикеты в Jira. Это цифры про количество тестов. А какие именно виды тестирования применялись — расскажу чуть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это не звучало как голые цифры, вот как это выглядит вживую. Это реальный вывод pytest — все 209 тестов зелёные. Рядом — детальный HTML-отчёт покрытия по файлам. Это прогон в GitHub Actions — тесты проходят автоматически. А это Codecov — здесь видно те самые 85%.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про сами баги — коротко, что было не так и что я сделал. Баг первый: когда рынок был спокойным, бот не ограничивал стоп, и позиция открывалась в разы больше нужного. Решение — поставил нижнюю границу: стоп не может быть меньше 2% от цены. Видео для него нет, он найден в живой торговле, а не тестом — вместо видео здесь скриншот тикета из Jira. Баг второй: прибыль по сделке считалась по неверной цене выхода, из-за этого отчёт не совпадал с реальностью. Решение — стал брать настоящую цену закрытия сделки. Здесь уже есть видео-демонстрация, встроенная прямо в презентацию.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вот тут не только видео, но и прямое доказательство: скриншот теста до фикса и после. Баг третий: сразу после жёсткого стопа бот тут же открывал новую сделку против движения рынка. Решение — добавил паузу на 8 свечей после такого стопа. Видите — слева тест падает, справа тот же тест зелёный после исправления. Баг четвёртый — уже не из живой торговли, я внёс его сам, намеренно, как учебный кейс на тему граничных значений: трейлинг-стоп не переключался ровно в пороговый момент — сравнение в коде было написано неточно. Решение — поправил условие, теперь пороговое значение тоже учитывается. Та же логика: было FAILED, стало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баг пятый — второй учебный кейс, тоже внесён мной намеренно: коэффициенты для высокой и низкой волатильности были просто перепутаны местами в коде. Решение — вернул их на свои места. Видео и тест до/после — здесь же. Итого три бага поймала реальная торговля, ещё два я показал сам — но все пять теперь воспроизводимые тесты, которые больше никогда не пропустят эту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работе применено шесть видов тестирования. Unit — 194 теста на отдельные функции. Интеграционное — 15 тестов на связку компонентов и WebSocket. Регрессионное — отдельный тест на каждый найденный баг, чтобы он больше не вернулся. Тестирование граничных значений — проверка поведения ровно на пороге условия. Негативное — проверка на некорректных и предельных входных данных. И smoke-тестирование — быстрая проверка ключевых сценариев стратегии. Подводя итог, эта работа дала мне четыре вещи: тестирование Python-кода с нуля, разработку stub-модулей для изоляции зависимостей, настройку CI/CD с отчётностью по покрытию и работу с реальными дефектами — поиск, исправление и документирование багов в Jira.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последнее, коротко — небольшая рефлексия за рамками темы тестирования. Сам бот написан в диалоге с AI-ассистентом — этот метод разработки, «вайб-кодинг», я изучил самостоятельно, методом проб и итераций. С AI-инструментами тоже прошёл путь: начинал с автодополнения в Copilot, дальше — обычные AI-чаты, а закончил работой с Claude как полноценным напарником — с его помощью написаны бот, тесты, документация и CI/CD. Главное, что это дало — я научился объяснять AI задачу и перепроверять его код, а не просто соглашаться со всем, что он написал. Так же самостоятельно, за рамками программы курса, я разобрался и с самим pytest, о котором рассказывал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021451-1387-4CA6-816F-3879F97B5CBE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media" Target="../media/media3.mp4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9.xml"/><Relationship Id="rId11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4" Type="http://schemas.openxmlformats.org/officeDocument/2006/relationships/video" Target="../media/media3.mp4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9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33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5" name="Image 0" descr="icon_robot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4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Python Applications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22960" y="3611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the real trading bot NT-Tech LiveEngine 5.8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822960" y="4343400"/>
            <a:ext cx="29260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46634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Dmytro Berdnikov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Thesis · Computer Academy Step (Step IT Academy s.r.o.)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 Vitaliy Zamirovskyi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6F8FC"/>
          </a:solidFill>
          <a:ln/>
        </p:spPr>
      </p:sp>
      <p:pic>
        <p:nvPicPr>
          <p:cNvPr id="6" name="Image 0" descr="icon_robo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7373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Training Example — a Real Bot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960120" y="251460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real money on Binance Spot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24/7 on a server (VPS)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the exchange via WebSocket in real time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601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" y="47091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project: I designed it, built it, and found bugs in live trading — not in the sheltered conditions of a classroom example.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26480" y="1417320"/>
            <a:ext cx="5422392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644652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Objectives</a:t>
            </a:r>
            <a:endParaRPr lang="en-US" sz="1700" dirty="0"/>
          </a:p>
        </p:txBody>
      </p:sp>
      <p:pic>
        <p:nvPicPr>
          <p:cNvPr id="13" name="Image 1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3317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test plan</a:t>
            </a:r>
            <a:endParaRPr lang="en-US" sz="1400" dirty="0"/>
          </a:p>
        </p:txBody>
      </p:sp>
      <p:pic>
        <p:nvPicPr>
          <p:cNvPr id="15" name="Image 2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3522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58000" y="28895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test cases and checklists</a:t>
            </a:r>
            <a:endParaRPr lang="en-US" sz="1400" dirty="0"/>
          </a:p>
        </p:txBody>
      </p:sp>
      <p:pic>
        <p:nvPicPr>
          <p:cNvPr id="17" name="Image 3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53872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8000" y="34930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manual testing</a:t>
            </a:r>
            <a:endParaRPr lang="en-US" sz="1400" dirty="0"/>
          </a:p>
        </p:txBody>
      </p:sp>
      <p:pic>
        <p:nvPicPr>
          <p:cNvPr id="19" name="Image 4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14223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58000" y="40965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bugs found</a:t>
            </a:r>
            <a:endParaRPr lang="en-US" sz="1400" dirty="0"/>
          </a:p>
        </p:txBody>
      </p:sp>
      <p:pic>
        <p:nvPicPr>
          <p:cNvPr id="21" name="Image 5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745736"/>
            <a:ext cx="274320" cy="2743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58000" y="47000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tests</a:t>
            </a:r>
            <a:endParaRPr lang="en-US" sz="1400" dirty="0"/>
          </a:p>
        </p:txBody>
      </p:sp>
      <p:pic>
        <p:nvPicPr>
          <p:cNvPr id="23" name="Image 6" descr="icon_check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34924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858000" y="5303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results and set up CI/CD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Architecture: How It All Works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of one trade, from signal to close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F6F8FC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7" name="Image 0" descr="icon_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748" y="295351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1323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60604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288036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2" name="Image 1" descr="icon_list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2953512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5351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Stage1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95351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filter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trend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84632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12064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17" name="Image 2" descr="icon_cogs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95351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9379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Engine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19379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signal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08660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736092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2" name="Image 3" descr="icon_shield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3588" y="29535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Guard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43407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sizing,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9326880" y="33147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19"/>
          <p:cNvSpPr/>
          <p:nvPr/>
        </p:nvSpPr>
        <p:spPr>
          <a:xfrm>
            <a:off x="9601200" y="2788920"/>
            <a:ext cx="1947672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pic>
        <p:nvPicPr>
          <p:cNvPr id="27" name="Image 4" descr="icon_chart_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3868" y="2953512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74352" y="3410712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+ Trail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9674352" y="37307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stop,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exit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640080" y="46177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thesis, exit_intelligence, stage1, entry_engine, and live_loop had no tests at all; risk_guard and intrabar_stops were only partially covered.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 — From Scratch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experience testing Python before this thesis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53162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212" y="24505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7724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running tests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7472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6626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505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pytest-mock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61188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20090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24505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pytest-cov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44652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144000" y="19659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03554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132" y="24505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35440" y="3154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pytest-asyncio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281160" y="35661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code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0080" y="4709160"/>
            <a:ext cx="10908792" cy="1600200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/>
        </p:spPr>
      </p:sp>
      <p:sp>
        <p:nvSpPr>
          <p:cNvPr id="27" name="Text 20"/>
          <p:cNvSpPr/>
          <p:nvPr/>
        </p:nvSpPr>
        <p:spPr>
          <a:xfrm>
            <a:off x="914400" y="470916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Self-taught skills: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and test parametrization, mocking external APIs, measuring and interpreting code coverage, and structuring a test suite (unit / integration).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Decision: Why Stubs, Not Mocks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infrastructure built deliberately, not copy-pasted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used unittest.mock.MagicMock — the test checked the mock's behavior, not the real interface. If a function's signature changed in the bot, the tests would stay green and never notice.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modules in src/stubs/ — an exact copy of the original interface: same classes, methods, parameters. The test calls the stub exactly as it would call the real component; if the interface changes, the stub has to be updated explicitly.</a:t>
            </a:r>
            <a:endParaRPr lang="en-US" sz="1150" dirty="0"/>
          </a:p>
        </p:txBody>
      </p:sp>
      <p:sp>
        <p:nvSpPr>
          <p:cNvPr id="30" name="Shape 30"/>
          <p:cNvSpPr/>
          <p:nvPr/>
        </p:nvSpPr>
        <p:spPr>
          <a:xfrm>
            <a:off x="640080" y="426720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1" name="Text 31"/>
          <p:cNvSpPr/>
          <p:nvPr/>
        </p:nvSpPr>
        <p:spPr>
          <a:xfrm>
            <a:off x="914400" y="42672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stub modules can be published in a public repository — the bot's trading logic stays private.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by the Numbers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209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3152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written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unit + 15 integration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356616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6616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Codecov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640080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documented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real + 2 teaching cases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146304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26318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0" y="160020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9235440" y="26060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35440" y="299923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consistently, locally and in CI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023360"/>
            <a:ext cx="1090879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Infrastructure</a:t>
            </a:r>
            <a:endParaRPr lang="en-US" sz="1500" dirty="0"/>
          </a:p>
        </p:txBody>
      </p:sp>
      <p:pic>
        <p:nvPicPr>
          <p:cNvPr id="23" name="Image 0" descr="icon_github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09160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0" y="465429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tests run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on every push</a:t>
            </a:r>
            <a:endParaRPr lang="en-US" sz="1150" dirty="0"/>
          </a:p>
        </p:txBody>
      </p:sp>
      <p:pic>
        <p:nvPicPr>
          <p:cNvPr id="25" name="Image 1" descr="icon_char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212080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71600" y="515721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Codecov: coverage is tracked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commit</a:t>
            </a:r>
            <a:endParaRPr lang="en-US" sz="1150" dirty="0"/>
          </a:p>
        </p:txBody>
      </p:sp>
      <p:pic>
        <p:nvPicPr>
          <p:cNvPr id="27" name="Image 2" descr="icon_clipboar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1500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5660136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Jira: all 5 bugs logged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tickets with full descriptions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7086600" y="4206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Growth Over Time (Codecov)</a:t>
            </a:r>
            <a:endParaRPr lang="en-US" sz="12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995160" y="4526280"/>
          <a:ext cx="443484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Evidence: Tests and CI in Action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 from the repository, not made-up numbers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7" name="Image 0" descr="proof_pyte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" y="1837944"/>
            <a:ext cx="2286000" cy="22219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209 of 209 passed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456432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0" name="Image 1" descr="coverage_htm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02736" y="1837944"/>
            <a:ext cx="2286000" cy="22219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84448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coverage report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272784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3" name="Image 2" descr="proof_ci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19088" y="1837944"/>
            <a:ext cx="2286000" cy="22219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0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green CI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9089136" y="169164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6F8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6" name="Image 3" descr="proof_codecov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235440" y="1837944"/>
            <a:ext cx="2286000" cy="22219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17152" y="4087368"/>
            <a:ext cx="23225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Codecov: 85% coverage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40080" y="4800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 of screenshots — in Appendix D of the thesis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Bugs: What Happened and How I Fixed Them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1-3 came from live trading; all five are logged in Jira (1/3)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market was calm, the bot didn't cap the stop, and positions opened many times larger than intended.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hard floor — the stop can never be smaller than 2% of price.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10543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SCRUM-8</a:t>
            </a:r>
            <a:endParaRPr lang="en-US" sz="1000" dirty="0"/>
          </a:p>
        </p:txBody>
      </p:sp>
      <p:pic>
        <p:nvPicPr>
          <p:cNvPr id="11" name="Image 0" descr="jira_bug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" y="2313432"/>
            <a:ext cx="10543032" cy="1325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2960" y="2313432"/>
            <a:ext cx="105430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" y="42519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39826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" y="43982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874520" y="434340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P&amp;L was calculated from the wrong exit price — the report didn't match reality.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using the actual trade close price instead of the signal trigger price.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22960" y="4709160"/>
            <a:ext cx="10543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2960" y="4965192"/>
            <a:ext cx="10543032" cy="1325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6336792"/>
            <a:ext cx="10543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play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Bugs: What Happened and How I Fixed Them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before and after the fix — proof, not just words (2/3)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after a hard stop, the bot opened a new trade the same second, against the market move.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cooldown — the bot won't trade for 8 candles after such a stop.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2960" y="2313432"/>
            <a:ext cx="3380232" cy="1325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85032"/>
            <a:ext cx="3380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play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043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FAILED</a:t>
            </a:r>
            <a:endParaRPr lang="en-US" sz="1000" dirty="0"/>
          </a:p>
        </p:txBody>
      </p:sp>
      <p:pic>
        <p:nvPicPr>
          <p:cNvPr id="14" name="Image 0" descr="bug3_fail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04360" y="2313432"/>
            <a:ext cx="3380232" cy="1325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404360" y="231343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9857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PASSED</a:t>
            </a:r>
            <a:endParaRPr lang="en-US" sz="1000" dirty="0"/>
          </a:p>
        </p:txBody>
      </p:sp>
      <p:pic>
        <p:nvPicPr>
          <p:cNvPr id="17" name="Image 1" descr="bug3_pass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985760" y="2313432"/>
            <a:ext cx="3380232" cy="1325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85760" y="231343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42519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F6F8FC"/>
          </a:solidFill>
          <a:ln/>
        </p:spPr>
      </p:sp>
      <p:sp>
        <p:nvSpPr>
          <p:cNvPr id="20" name="Shape 14"/>
          <p:cNvSpPr/>
          <p:nvPr/>
        </p:nvSpPr>
        <p:spPr>
          <a:xfrm>
            <a:off x="822960" y="439826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43982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BUG-4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874520" y="434340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case (introduced intentionally): the trailing stop didn't switch exactly at the threshold — the comparison in the code was off.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condition: the threshold value now counts too.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22960" y="470916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pic>
        <p:nvPicPr>
          <p:cNvPr id="11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22960" y="4965192"/>
            <a:ext cx="3380232" cy="1325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60" y="6336792"/>
            <a:ext cx="3380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play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404360" y="470916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FAILED</a:t>
            </a:r>
            <a:endParaRPr lang="en-US" sz="1000" dirty="0"/>
          </a:p>
        </p:txBody>
      </p:sp>
      <p:pic>
        <p:nvPicPr>
          <p:cNvPr id="27" name="Image 2" descr="bug4_fail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404360" y="4965192"/>
            <a:ext cx="3380232" cy="13258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404360" y="496519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985760" y="470916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PASSED</a:t>
            </a:r>
            <a:endParaRPr lang="en-US" sz="1000" dirty="0"/>
          </a:p>
        </p:txBody>
      </p:sp>
      <p:pic>
        <p:nvPicPr>
          <p:cNvPr id="30" name="Image 3" descr="bug4_pass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985760" y="4965192"/>
            <a:ext cx="3380232" cy="132588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7985760" y="4965192"/>
            <a:ext cx="3380232" cy="132588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Bugs: What Happened and How I Fixed Them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of the five bugs (3/3)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10908792" cy="2834640"/>
          </a:xfrm>
          <a:prstGeom prst="roundRect">
            <a:avLst>
              <a:gd name="adj" fmla="val 2581"/>
            </a:avLst>
          </a:prstGeom>
          <a:solidFill>
            <a:srgbClr val="F6F8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746504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4650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1691640"/>
            <a:ext cx="94000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case (the second one, introduced intentionally): the coefficients for high and low volatility were swapped in the code.</a:t>
            </a:r>
            <a:endParaRPr lang="en-US" sz="1150" dirty="0"/>
          </a:p>
          <a:p>
            <a:pPr marL="0" indent="0">
              <a:lnSpc>
                <a:spcPct val="11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coefficients back where they belong.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2960" y="2313432"/>
            <a:ext cx="3380232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4187952"/>
            <a:ext cx="3380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play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4043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FAILED</a:t>
            </a:r>
            <a:endParaRPr lang="en-US" sz="1000" dirty="0"/>
          </a:p>
        </p:txBody>
      </p:sp>
      <p:pic>
        <p:nvPicPr>
          <p:cNvPr id="14" name="Image 0" descr="bug5_fail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04360" y="2313432"/>
            <a:ext cx="3380232" cy="1828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404360" y="2313432"/>
            <a:ext cx="3380232" cy="182880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985760" y="2057400"/>
            <a:ext cx="3380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PASSED</a:t>
            </a:r>
            <a:endParaRPr lang="en-US" sz="1000" dirty="0"/>
          </a:p>
        </p:txBody>
      </p:sp>
      <p:pic>
        <p:nvPicPr>
          <p:cNvPr id="17" name="Image 1" descr="bug5_pass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85760" y="2313432"/>
            <a:ext cx="3380232" cy="18288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985760" y="2313432"/>
            <a:ext cx="3380232" cy="1828800"/>
          </a:xfrm>
          <a:prstGeom prst="rect">
            <a:avLst/>
          </a:prstGeom>
          <a:ln w="12700">
            <a:solidFill>
              <a:srgbClr val="D8DCE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0" name="Text 14"/>
          <p:cNvSpPr/>
          <p:nvPr/>
        </p:nvSpPr>
        <p:spPr>
          <a:xfrm>
            <a:off x="914400" y="48006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is now its own reproducible test — it will never let that mistake slip through again.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Types and Key Takeaways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applied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645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vial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7556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9888" y="1280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— 194 tests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61688" y="128016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44568" y="1645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layers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75564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11496" y="1280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15 tests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8083296" y="128016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266176" y="1645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random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75564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33104" y="128016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256032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960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list_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303580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89888" y="25603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4361688" y="256032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544568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icon_ban_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296" y="3035808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11496" y="25603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8083296" y="2560320"/>
            <a:ext cx="34290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266176" y="292608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icon_bolt_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303580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833104" y="2560320"/>
            <a:ext cx="2514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experience gave me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40080" y="417880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32" name="Shape 23"/>
          <p:cNvSpPr/>
          <p:nvPr/>
        </p:nvSpPr>
        <p:spPr>
          <a:xfrm>
            <a:off x="841248" y="447141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3" name="Image 6" descr="icon_vial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" y="459943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508760" y="417880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Python code from scratch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6263640" y="417880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36" name="Shape 26"/>
          <p:cNvSpPr/>
          <p:nvPr/>
        </p:nvSpPr>
        <p:spPr>
          <a:xfrm>
            <a:off x="6464808" y="447141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7" name="Image 7" descr="icon_robo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824" y="4599432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132320" y="417880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dependencies with stub modules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640080" y="536752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40" name="Shape 29"/>
          <p:cNvSpPr/>
          <p:nvPr/>
        </p:nvSpPr>
        <p:spPr>
          <a:xfrm>
            <a:off x="841248" y="566013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1" name="Image 8" descr="icon_brai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264" y="5788152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508760" y="536752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coverage reporting</a:t>
            </a:r>
            <a:endParaRPr lang="en-US" sz="1300" dirty="0"/>
          </a:p>
        </p:txBody>
      </p:sp>
      <p:sp>
        <p:nvSpPr>
          <p:cNvPr id="43" name="Shape 31"/>
          <p:cNvSpPr/>
          <p:nvPr/>
        </p:nvSpPr>
        <p:spPr>
          <a:xfrm>
            <a:off x="6263640" y="5367528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1E2761"/>
          </a:solidFill>
          <a:ln/>
        </p:spPr>
      </p:sp>
      <p:sp>
        <p:nvSpPr>
          <p:cNvPr id="44" name="Shape 32"/>
          <p:cNvSpPr/>
          <p:nvPr/>
        </p:nvSpPr>
        <p:spPr>
          <a:xfrm>
            <a:off x="6464808" y="5660136"/>
            <a:ext cx="493776" cy="49377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5" name="Image 9" descr="icon_bug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2824" y="5788152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132320" y="5367528"/>
            <a:ext cx="42062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real defects in Jira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Skill I Picked Up on My Own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reflection — what fell outside the testing topic itself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brain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231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“Vibe Coding”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36576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Binance spot bot was built in dialogue with an AI assistant. I taught myself this development method through trial and iteration.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08736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438912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0916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_robot_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423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916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Tools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709160" y="36576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Copilot autocomplete, through plain AI chats, to Claude as a full development partner: the bot, tests, docs, and CI/CD.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836408" y="3383280"/>
            <a:ext cx="283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8138160" y="192024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5820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_vial_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4231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58200" y="31546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It Gave Me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458200" y="365760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explain the task clearly to AI and double-check its code, instead of just accepting whatever it wrote.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40080" y="571500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F96167"/>
          </a:solidFill>
          <a:ln/>
        </p:spPr>
      </p:sp>
      <p:sp>
        <p:nvSpPr>
          <p:cNvPr id="24" name="Text 18"/>
          <p:cNvSpPr/>
          <p:nvPr/>
        </p:nvSpPr>
        <p:spPr>
          <a:xfrm>
            <a:off x="914400" y="5715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coding, AI tools, and pytest itself — all self-taught, outside the course curriculum.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83112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  <p:pic>
        <p:nvPicPr>
          <p:cNvPr id="4" name="Image 0" descr="icon_cap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137160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answer questions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4631436" y="4297680"/>
            <a:ext cx="29260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4572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Dmytro Berdnikov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github.com/Dmytro-B78/Diplom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2248</Words>
  <Application>Microsoft Office PowerPoint</Application>
  <PresentationFormat>Широкоэкранный</PresentationFormat>
  <Paragraphs>196</Paragraphs>
  <Slides>13</Slides>
  <Notes>13</Notes>
  <HiddenSlides>0</HiddenSlides>
  <MMClips>4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Testing of Python Applications</dc:title>
  <dc:subject>Diploma Thesis Defense — NT-Tech LiveEngine 5.8</dc:subject>
  <dc:creator>Dmytro Berdnikov</dc:creator>
  <cp:lastModifiedBy>Дмитрий Бердников</cp:lastModifiedBy>
  <cp:revision>1</cp:revision>
  <dcterms:created xsi:type="dcterms:W3CDTF">2026-07-31T10:55:07Z</dcterms:created>
  <dcterms:modified xsi:type="dcterms:W3CDTF">2026-08-15T09:07:37Z</dcterms:modified>
</cp:coreProperties>
</file>