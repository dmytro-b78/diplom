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9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Покрытие</c:v>
                </c:pt>
              </c:strCache>
            </c:strRef>
          </c:tx>
          <c:spPr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27 апр</c:v>
                </c:pt>
                <c:pt idx="1">
                  <c:v>11 май</c:v>
                </c:pt>
                <c:pt idx="2">
                  <c:v>25 май</c:v>
                </c:pt>
                <c:pt idx="3">
                  <c:v>8 июн</c:v>
                </c:pt>
                <c:pt idx="4">
                  <c:v>22 июн</c:v>
                </c:pt>
                <c:pt idx="5">
                  <c:v>6 июл</c:v>
                </c:pt>
                <c:pt idx="6">
                  <c:v>20 июл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C9-4AC0-B1E4-896A612B95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890A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A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0A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034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Меня зовут Дмитрий Бердников, тема моей дипломной работы — автоматизация тестирования Python-приложений, на примере реального торгового бота NT-Tech LiveEngine 5.8. Научный руководитель — Виталий Замировский.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 тестирования — не учебный пример, а реальный бот. Он торгует настоящими деньгами на бирже Binance Spot, работает круглосуточно на сервере и подключён к бирже через WebSocket в реальном времени. Я выбрал именно этот проект, потому что сам его придумал, сам написал и сам находил в нём баги в боевых условиях — а не в тепличной среде учебного задания. Задачи диплома стандартные: составить тест-план, подготовить тест-кейсы, провести ручное тестирование, описать найденные баги, автоматизировать тесты и подвести итоги.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чем говорить про тесты — коротко, как устроен сам бот. Данные приходят с Binance по WebSocket, дальше стадия входа проверяет условия по 4-часовому тренду, движок входа считает сигнал, риск-менеджмент ограничивает размер позиции, а после открытия сделки трейлинг-стоп и интеллектуальный выход ведут её до закрытия. До диплома тестов не было у exit_intelligence, stage1, entry_engine и live_loop; risk_guard и intrabar_stops были покрыты только частично — именно это белое пятно и закрывает эта работа.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 диплома у меня не было опыта тестирования на Python вообще. Всё пришлось осваивать с нуля: сам pytest как основной фреймворк, pytest-mock для подмены внешних зависимостей, pytest-cov для замера покрытия кода и pytest-asyncio для тестирования асинхронного кода — бот ведь работает через WebSocket. Самостоятельно освоил фикстуры, параметризацию тестов, моки внешних API и структуру тестового пакета — отдельно unit-тесты, отдельно интеграционные.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 хочу показать одно инженерное решение — оно хорошо демонстрирует, что я понимаю тему тестирования, а не просто скопировал код. Первая версия тестовой инфраструктуры использовала unittest.mock.MagicMock — но так тесты проверяли поведение мока, а не реального интерфейса бота. Если бы в оригинальном компоненте изменилась сигнатура функции, тесты остались бы зелёными и не заметили бы этого — то есть тесты защищали бы от несуществующей опасности. Я перешёл на stub-модули: каждый stub точно повторяет интерфейс оригинала — те же классы, методы, параметры. Тест вызывает stub так же, как вызывал бы реальный компонент, и если интерфейс меняется, это сразу видно. Дополнительный бонус — stubs можно публиковать в открытом репозитории диплома, не раскрывая торговую логику 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021451-1387-4CA6-816F-3879F97B5CBD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коротко про результат. Всего написано 209 тестов: 194 unit и 15 интеграционных. Покрытие кода — 85%, подтверждено через Codecov, и график справа показывает, что оно не с потолка, а выросло постепенно. Задокументировано 5 багов: три реальных, из живой торговли, и ещё два я внёс сам, намеренно — чтобы показать технику тестирования на границе значений. И все тесты стабильно проходят — как локально, так и в CI. Из инфраструктуры: GitHub Actions запускает тесты автоматически при каждом push, Codecov отслеживает покрытие на каждый коммит, а все баги оформлены как тикеты в Jira. Это цифры про количество тестов. А какие именно виды тестирования применялись — расскажу чуть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это не звучало как голые цифры, вот как это выглядит вживую. Это реальный вывод pytest — все 209 тестов зелёные. Рядом — детальный HTML-отчёт покрытия по файлам. Это прогон в GitHub Actions — тесты проходят автоматически. А это Codecov — здесь видно те самые 85%.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про сами баги — коротко, что было не так и что я сделал. Баг первый: когда рынок был спокойным, бот не ограничивал стоп, и позиция открывалась в разы больше нужного. Решение — поставил нижнюю границу: стоп не может быть меньше 2% от цены. Видео для него нет, он найден в живой торговле, а не тестом — вместо видео здесь скриншот тикета из Jira. Баг второй: прибыль по сделке считалась по неверной цене выхода, из-за этого отчёт не совпадал с реальностью. Решение — стал брать настоящую цену закрытия сделки. Здесь уже есть видео-демонстрация, встроенная прямо в презентацию.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вот тут не только видео, но и прямое доказательство: скриншот теста до фикса и после. Баг третий: сразу после жёсткого стопа бот тут же открывал новую сделку против движения рынка. Решение — добавил паузу на 8 свечей после такого стопа. Видите — слева тест падает, справа тот же тест зелёный после исправления. Баг четвёртый — уже не из живой торговли, я внёс его сам, намеренно, как учебный кейс на тему граничных значений: трейлинг-стоп не переключался ровно в пороговый момент — сравнение в коде было написано неточно. Решение — поправил условие, теперь пороговое значение тоже учитывается. Та же логика: было FAILED, стало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баг пятый — второй учебный кейс, тоже внесён мной намеренно: коэффициенты для высокой и низкой волатильности были просто перепутаны местами в коде. Решение — вернул их на свои места. Видео и тест до/после — здесь же. Итого три бага поймала реальная торговля, ещё два я показал сам — но все пять теперь воспроизводимые тесты, которые больше никогда не пропустят эту ошибку.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работе применено шесть видов тестирования. Unit — 194 теста на отдельные функции. Интеграционное — 15 тестов на связку компонентов и WebSocket. Регрессионное — отдельный тест на каждый найденный баг, чтобы он больше не вернулся. Тестирование граничных значений — проверка поведения ровно на пороге условия. Негативное — проверка на некорректных и предельных входных данных. И smoke-тестирование — быстрая проверка ключевых сценариев стратегии. Подводя итог, эта работа дала мне четыре вещи: тестирование Python-кода с нуля, разработку stub-модулей для изоляции зависимостей, настройку CI/CD с отчётностью по покрытию и работу с реальными дефектами — поиск, исправление и документирование багов в Jira.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последнее, коротко — небольшая рефлексия за рамками темы тестирования. Сам бот написан в диалоге с AI-ассистентом — этот метод разработки, «вайб-кодинг», я изучил самостоятельно, методом проб и итераций. С AI-инструментами тоже прошёл путь: начинал с автодополнения в Copilot, дальше — обычные AI-чаты, а закончил работой с Claude как полноценным напарником — с его помощью написаны бот, тесты, документация и CI/CD. Главное, что это дало — я научился объяснять AI задачу и перепроверять его код, а не просто соглашаться со всем, что он написал. Так же самостоятельно, за рамками программы курса, я разобрался и с самим pytest, о котором рассказывал раньше.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021451-1387-4CA6-816F-3879F97B5CBE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media" Target="../media/media3.mp4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9.xml"/><Relationship Id="rId11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2.png"/><Relationship Id="rId4" Type="http://schemas.openxmlformats.org/officeDocument/2006/relationships/video" Target="../media/media3.mp4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9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5" name="Image 0" descr="icon_robot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Автоматизация тестирования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Python-приложений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22960" y="3611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примере реального торгового бота NT-Tech LiveEngine 5.8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46634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Дмитрий Бердников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Дипломная работа · Computer Academy Step (Step IT Academy s.r.o.)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Виталий Замировский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тестировали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F6F8FC"/>
          </a:solidFill>
          <a:ln/>
        </p:spPr>
      </p:sp>
      <p:pic>
        <p:nvPicPr>
          <p:cNvPr id="6" name="Image 0" descr="icon_robo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737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учебный пример — реальный бот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25146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Торгует настоящими деньгами на Binance Spot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круглосуточно на сервере (VPS)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Подключён к бирже через WebSocket в реальном времени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601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этот проект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60120" y="4709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проект: сам придумал, сам написал, сам нашёл баги в бою — а не в тепличных условиях учебного примера.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26480" y="1417320"/>
            <a:ext cx="5422392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644652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дипломной работы</a:t>
            </a:r>
            <a:endParaRPr lang="en-US" sz="1700" dirty="0"/>
          </a:p>
        </p:txBody>
      </p:sp>
      <p:pic>
        <p:nvPicPr>
          <p:cNvPr id="13" name="Image 1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3317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2286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Составить тест-план</a:t>
            </a:r>
            <a:endParaRPr lang="en-US" sz="1400" dirty="0"/>
          </a:p>
        </p:txBody>
      </p:sp>
      <p:pic>
        <p:nvPicPr>
          <p:cNvPr id="15" name="Image 2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9352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58000" y="28895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 тест-кейсы и чек-листы</a:t>
            </a:r>
            <a:endParaRPr lang="en-US" sz="1400" dirty="0"/>
          </a:p>
        </p:txBody>
      </p:sp>
      <p:pic>
        <p:nvPicPr>
          <p:cNvPr id="17" name="Image 3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53872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0" y="3493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ручное тестирование</a:t>
            </a:r>
            <a:endParaRPr lang="en-US" sz="1400" dirty="0"/>
          </a:p>
        </p:txBody>
      </p:sp>
      <p:pic>
        <p:nvPicPr>
          <p:cNvPr id="19" name="Image 4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14223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58000" y="4096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Описать найденные баги</a:t>
            </a:r>
            <a:endParaRPr lang="en-US" sz="1400" dirty="0"/>
          </a:p>
        </p:txBody>
      </p:sp>
      <p:pic>
        <p:nvPicPr>
          <p:cNvPr id="21" name="Image 5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745736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58000" y="47000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Автоматизировать тесты</a:t>
            </a:r>
            <a:endParaRPr lang="en-US" sz="1400" dirty="0"/>
          </a:p>
        </p:txBody>
      </p:sp>
      <p:pic>
        <p:nvPicPr>
          <p:cNvPr id="23" name="Image 6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34924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858000" y="5303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Подвести итоги и оформить CI/CD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бота: как всё устроено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одной сделки от сигнала до закрытия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F6F8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0" descr="icon_bo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48" y="295351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1323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реальном времени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606040" y="33147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288036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2" name="Image 1" descr="icon_list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28" y="29535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5351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95351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входа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4H-тренд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846320" y="33147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12064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7" name="Image 2" descr="icon_cogs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08" y="295351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9379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Engine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19379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сигнала входа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086600" y="33147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736092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2" name="Image 3" descr="icon_shield_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588" y="295351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3407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Guard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43407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позиции,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стоп-лосс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9326880" y="33147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960120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7" name="Image 4" descr="icon_chart_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3868" y="2953512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7435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+ Trail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967435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трейлинг-стоп,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 сделки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640080" y="46177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диплома тестов не было у exit_intelligence, stage1, entry_engine и live_loop; risk_guard и intrabar_stops были покрыты частично.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 — с нуля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диплома опыта тестирования на Python не было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3162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24505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фреймворк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 тестов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47472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6626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505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pytest-mock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1188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Подмена внешних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зависимостей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0936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0090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24505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pytest-cov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4652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покрытия кода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14400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03554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132" y="24505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3544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pytest-asyncio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28116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асинхронного кода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0080" y="4709160"/>
            <a:ext cx="10908792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470916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освоено самостоятельно: 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фикстуры и параметризация тестов, моки внешних API, замер и интерпретация покрытия кода, структура тестового пакета (unit / integration).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Инженерное решение: почему stubs, а не моки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Тестовая инфраструктура строится осознанно, а не копированием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4650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46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версия использовала unittest.mock.MagicMock — тест проверял поведение мока, а не реального интерфейса. Изменись сигнатура функции в боте, тесты остались бы зелёными и не заметили бы этого.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stub-модули в src/stubs/ — точная копия интерфейса оригинала: те же классы, методы, параметры. Тест вызывает stub так же, как вызывал бы реальный компонент; изменится интерфейс — stub нужно обновить явно.</a:t>
            </a:r>
            <a:endParaRPr lang="en-US" sz="1150" dirty="0"/>
          </a:p>
        </p:txBody>
      </p:sp>
      <p:sp>
        <p:nvSpPr>
          <p:cNvPr id="30" name="Shape 30"/>
          <p:cNvSpPr/>
          <p:nvPr/>
        </p:nvSpPr>
        <p:spPr>
          <a:xfrm>
            <a:off x="640080" y="426720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31" name="Text 31"/>
          <p:cNvSpPr/>
          <p:nvPr/>
        </p:nvSpPr>
        <p:spPr>
          <a:xfrm>
            <a:off x="914400" y="42672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 решения: stub-модули можно публиковать в открытом репозитории — торговая логика бота остаётся закрытой.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 в цифрах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6318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3152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написано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9992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unit + 15 integration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63180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356616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кода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66160" y="29992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Codecov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63180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640080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багов задокументировано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0" y="29992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реальных + 2 учебных кейса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63180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0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923544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проходят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35440" y="29992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стабильно, локально и в CI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023360"/>
            <a:ext cx="1090879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и инфраструктура</a:t>
            </a:r>
            <a:endParaRPr lang="en-US" sz="1500" dirty="0"/>
          </a:p>
        </p:txBody>
      </p:sp>
      <p:pic>
        <p:nvPicPr>
          <p:cNvPr id="23" name="Image 0" descr="icon_githu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09160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71600" y="465429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тесты запускаются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при каждом push</a:t>
            </a:r>
            <a:endParaRPr lang="en-US" sz="1150" dirty="0"/>
          </a:p>
        </p:txBody>
      </p:sp>
      <p:pic>
        <p:nvPicPr>
          <p:cNvPr id="25" name="Image 1" descr="icon_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12080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71600" y="515721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Codecov: покрытие отслеживается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каждый коммит</a:t>
            </a:r>
            <a:endParaRPr lang="en-US" sz="1150" dirty="0"/>
          </a:p>
        </p:txBody>
      </p:sp>
      <p:pic>
        <p:nvPicPr>
          <p:cNvPr id="27" name="Image 2" descr="icon_clipbo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71500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56601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все 5 багов оформлены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тикеты с описанием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086600" y="4206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покрытия во времени (Codecov)</a:t>
            </a:r>
            <a:endParaRPr lang="en-US" sz="12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995160" y="4526280"/>
          <a:ext cx="443484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Доказательства: тесты и CI в деле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скриншоты из репозитория, а не выдуманные цифры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6F8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7" name="Image 0" descr="proof_pyte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" y="1837944"/>
            <a:ext cx="2286000" cy="22219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096" y="408736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209 из 209 пройдено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456432" y="169164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6F8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0" name="Image 1" descr="coverage_htm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02736" y="1837944"/>
            <a:ext cx="2286000" cy="22219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84448" y="408736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HTML-отчёт покрытия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272784" y="169164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6F8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3" name="Image 2" descr="proof_ci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19088" y="1837944"/>
            <a:ext cx="2286000" cy="22219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408736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зелёный CI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9089136" y="169164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6F8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6" name="Image 3" descr="proof_codecov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5440" y="1837944"/>
            <a:ext cx="2286000" cy="22219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17152" y="408736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Codecov: покрытие 85%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640080" y="4800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набор скриншотов — в Приложении Г дипломной работы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багов: что случилось и как исправили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Баги 1-3 — из реальной торговли, все пять оформлены в Jira (1/3)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4650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46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БАГ-1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рынок был спокойным, бот не ограничивал стоп, и позиция открывалась в разы больше нужного.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поставили нижнюю границу — стоп не может быть меньше 2% от цены.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10543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SCRUM-8</a:t>
            </a:r>
            <a:endParaRPr lang="en-US" sz="1000" dirty="0"/>
          </a:p>
        </p:txBody>
      </p:sp>
      <p:pic>
        <p:nvPicPr>
          <p:cNvPr id="11" name="Image 0" descr="jira_bug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" y="2313432"/>
            <a:ext cx="10543032" cy="1325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" y="2313432"/>
            <a:ext cx="105430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42519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39826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3982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БАГ-2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874520" y="434340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прибыль по сделке считалась по неверной цене выхода — отчёт не совпадал с реальностью.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стали брать настоящую цену закрытия сделки, а не цену срабатывания сигнала.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22960" y="4709160"/>
            <a:ext cx="10543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ВИДЕО-ДЕМОНСТРАЦИЯ</a:t>
            </a:r>
            <a:endParaRPr lang="en-US" sz="1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2960" y="4965192"/>
            <a:ext cx="10543032" cy="1325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6336792"/>
            <a:ext cx="10543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нажмите, чтобы воспроизвести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багов: что случилось и как исправили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до и после исправления — не только слова, а факт (2/3)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4650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46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БАГ-3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жёсткого стопа бот открывал новую сделку в ту же секунду, против движения рынка.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добавили паузу — 8 свечей бот не торгует после такого стопа.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endParaRPr lang="en-US" sz="1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2960" y="2313432"/>
            <a:ext cx="3380232" cy="1325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685032"/>
            <a:ext cx="3380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нажмите, чтобы воспроизвести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043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FAILED</a:t>
            </a:r>
            <a:endParaRPr lang="en-US" sz="1000" dirty="0"/>
          </a:p>
        </p:txBody>
      </p:sp>
      <p:pic>
        <p:nvPicPr>
          <p:cNvPr id="14" name="Image 0" descr="bug3_fail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04360" y="2313432"/>
            <a:ext cx="3380232" cy="1325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404360" y="2313432"/>
            <a:ext cx="33802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9857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PASSED</a:t>
            </a:r>
            <a:endParaRPr lang="en-US" sz="1000" dirty="0"/>
          </a:p>
        </p:txBody>
      </p:sp>
      <p:pic>
        <p:nvPicPr>
          <p:cNvPr id="17" name="Image 1" descr="bug3_pass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985760" y="2313432"/>
            <a:ext cx="3380232" cy="1325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85760" y="2313432"/>
            <a:ext cx="33802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0080" y="42519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20" name="Shape 14"/>
          <p:cNvSpPr/>
          <p:nvPr/>
        </p:nvSpPr>
        <p:spPr>
          <a:xfrm>
            <a:off x="822960" y="439826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43982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БАГ-4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874520" y="434340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кейс (внесён намеренно): трейлинг-стоп не переключался ровно в пороговый момент — сравнение в коде было неточным.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поправили условие: пороговое значение теперь тоже засчитывается.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22960" y="470916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endParaRPr lang="en-US" sz="1000" dirty="0"/>
          </a:p>
        </p:txBody>
      </p:sp>
      <p:pic>
        <p:nvPicPr>
          <p:cNvPr id="11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22960" y="4965192"/>
            <a:ext cx="3380232" cy="1325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" y="6336792"/>
            <a:ext cx="3380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нажмите, чтобы воспроизвести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404360" y="470916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FAILED</a:t>
            </a:r>
            <a:endParaRPr lang="en-US" sz="1000" dirty="0"/>
          </a:p>
        </p:txBody>
      </p:sp>
      <p:pic>
        <p:nvPicPr>
          <p:cNvPr id="27" name="Image 2" descr="bug4_fail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04360" y="4965192"/>
            <a:ext cx="3380232" cy="1325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404360" y="4965192"/>
            <a:ext cx="33802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985760" y="470916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PASSED</a:t>
            </a:r>
            <a:endParaRPr lang="en-US" sz="1000" dirty="0"/>
          </a:p>
        </p:txBody>
      </p:sp>
      <p:pic>
        <p:nvPicPr>
          <p:cNvPr id="30" name="Image 3" descr="bug4_pass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985760" y="4965192"/>
            <a:ext cx="3380232" cy="132588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7985760" y="4965192"/>
            <a:ext cx="33802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багов: что случилось и как исправили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баг из пяти (3/3)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2834640"/>
          </a:xfrm>
          <a:prstGeom prst="roundRect">
            <a:avLst>
              <a:gd name="adj" fmla="val 2581"/>
            </a:avLst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4650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46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БАГ-5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кейс (второй намеренно внесённый): коэффициенты для высокой и низкой волатильности были перепутаны местами в коде.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вернули коэффициенты туда, где они должны быть.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endParaRPr lang="en-US" sz="1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2960" y="2313432"/>
            <a:ext cx="3380232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4187952"/>
            <a:ext cx="3380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нажмите, чтобы воспроизвести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043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FAILED</a:t>
            </a:r>
            <a:endParaRPr lang="en-US" sz="1000" dirty="0"/>
          </a:p>
        </p:txBody>
      </p:sp>
      <p:pic>
        <p:nvPicPr>
          <p:cNvPr id="14" name="Image 0" descr="bug5_fail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04360" y="2313432"/>
            <a:ext cx="3380232" cy="18288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404360" y="2313432"/>
            <a:ext cx="3380232" cy="182880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9857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PASSED</a:t>
            </a:r>
            <a:endParaRPr lang="en-US" sz="1000" dirty="0"/>
          </a:p>
        </p:txBody>
      </p:sp>
      <p:pic>
        <p:nvPicPr>
          <p:cNvPr id="17" name="Image 1" descr="bug5_pass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985760" y="2313432"/>
            <a:ext cx="3380232" cy="18288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85760" y="2313432"/>
            <a:ext cx="3380232" cy="182880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0080" y="480060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0" name="Text 14"/>
          <p:cNvSpPr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баг — отдельный воспроизводимый тест, который больше никогда не пропустит эту ошибку.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Виды тестирования и главные выводы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виды тестирования применили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645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5564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888" y="1280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194 теста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61688" y="128016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44568" y="1645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layers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75564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11496" y="1280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Интеграционное — 15 тестов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083296" y="128016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66176" y="1645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random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75564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33104" y="1280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Регрессионное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256032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960" y="2926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_list_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03580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89888" y="25603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Граничных значений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4361688" y="256032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544568" y="2926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icon_ban_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3035808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11496" y="25603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Негативное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8083296" y="256032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266176" y="2926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icon_bolt_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3035808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833104" y="25603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4008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 этот опыт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40080" y="4178808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</p:spPr>
      </p:sp>
      <p:sp>
        <p:nvSpPr>
          <p:cNvPr id="32" name="Shape 23"/>
          <p:cNvSpPr/>
          <p:nvPr/>
        </p:nvSpPr>
        <p:spPr>
          <a:xfrm>
            <a:off x="841248" y="4471416"/>
            <a:ext cx="493776" cy="49377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3" name="Image 6" descr="icon_vial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264" y="4599432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508760" y="4178808"/>
            <a:ext cx="4206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Python-кода с нуля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263640" y="4178808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</p:spPr>
      </p:sp>
      <p:sp>
        <p:nvSpPr>
          <p:cNvPr id="36" name="Shape 26"/>
          <p:cNvSpPr/>
          <p:nvPr/>
        </p:nvSpPr>
        <p:spPr>
          <a:xfrm>
            <a:off x="6464808" y="4471416"/>
            <a:ext cx="493776" cy="49377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7" name="Image 7" descr="icon_robo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2824" y="4599432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132320" y="4178808"/>
            <a:ext cx="4206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зависимостей через stub-модули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640080" y="5367528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</p:spPr>
      </p:sp>
      <p:sp>
        <p:nvSpPr>
          <p:cNvPr id="40" name="Shape 29"/>
          <p:cNvSpPr/>
          <p:nvPr/>
        </p:nvSpPr>
        <p:spPr>
          <a:xfrm>
            <a:off x="841248" y="5660136"/>
            <a:ext cx="493776" cy="49377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1" name="Image 8" descr="icon_brain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264" y="5788152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508760" y="5367528"/>
            <a:ext cx="4206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с отчётностью по покрытию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6263640" y="5367528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</p:spPr>
      </p:sp>
      <p:sp>
        <p:nvSpPr>
          <p:cNvPr id="44" name="Shape 32"/>
          <p:cNvSpPr/>
          <p:nvPr/>
        </p:nvSpPr>
        <p:spPr>
          <a:xfrm>
            <a:off x="6464808" y="5660136"/>
            <a:ext cx="493776" cy="49377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5" name="Image 9" descr="icon_bug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2824" y="5788152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132320" y="5367528"/>
            <a:ext cx="4206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реальными дефектами в Jira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Ещё один навык, который освоил сам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рефлексия — то, что осталось за рамками темы тестирования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_brain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231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«Вайб-кодинг»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36576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Спот-бот для Binance написан в диалоге с AI-ассистентом. Этот метод разработки я изучил самостоятельно, методом проб и итераций.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087368" y="33832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_robot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23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AI-инструменты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709160" y="36576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автодополнения в Copilot — через обычные AI-чаты — до Claude как напарника: бот, тесты, документация, CI/CD.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836408" y="33832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813816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5820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_vial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4231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5820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это дало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458200" y="36576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Научился объяснять AI задачу и перепроверять его код, а не просто соглашаться со всем, что он написал.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40080" y="57150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57150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Вайб-кодинг, AI-инструменты и pytest — со всем этим самостоятельно ознакомился, за рамками программы курса.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pic>
        <p:nvPicPr>
          <p:cNvPr id="4" name="Image 0" descr="icon_cap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137160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0" y="3520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4631436" y="4297680"/>
            <a:ext cx="29260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4572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Дмитрий Бердников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github.com/Dmytro-B78/Diplom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2144</Words>
  <Application>Microsoft Office PowerPoint</Application>
  <PresentationFormat>Широкоэкранный</PresentationFormat>
  <Paragraphs>196</Paragraphs>
  <Slides>13</Slides>
  <Notes>13</Notes>
  <HiddenSlides>0</HiddenSlides>
  <MMClips>4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Дмитрий Бердников</cp:lastModifiedBy>
  <cp:revision>1</cp:revision>
  <dcterms:created xsi:type="dcterms:W3CDTF">2026-07-31T10:55:07Z</dcterms:created>
  <dcterms:modified xsi:type="dcterms:W3CDTF">2026-08-15T09:07:13Z</dcterms:modified>
</cp:coreProperties>
</file>